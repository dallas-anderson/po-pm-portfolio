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on this slide is pattern-based scaffolding, not validated data. See Ledger session history / concept brief for confidence and risk scores per line before using any of these in a real capital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COMMUNITY-FIRST MEDICARE ADVANTAGE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26974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Morgan County MA Co-op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B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[Year]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9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DEMONSTRATION — LEDGER PM AGENT PORTFOLIO PIECE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Rural Medicare members in Morgan County lack transparent, community-rooted coverage options.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794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~5,390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age 65+ — the core Medicare-eligible population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206240" y="3794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$73,278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206240" y="4709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 — below state median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0" y="3794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863840" y="4709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rate — meaningfully above state average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U.S. Census Bureau, ACS 2020–2024 5-year estimates.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co-op built on two lanes of coverage —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reserve path that shares success back.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7F7F5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97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F3B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Benefits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all ~700 members equally — dental, vision, hearing, wellness, transportation to appointments. No eligibility test.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3317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7F7F5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697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3246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Chronically-Ill Tier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38404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Targeted, CMS-recognized supplemental benefits (SSBCI) for members meeting the chronically-ill bar — home modification, food delivery, non-medical transport, tied to documented individual need.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profit-sharing begins after a </a:t>
            </a:r>
            <a:pPr indent="0" marL="0">
              <a:buNone/>
            </a:pPr>
            <a:r>
              <a:rPr lang="en-US" sz="13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 reserve</a:t>
            </a:r>
            <a:pPr indent="0" marL="0">
              <a:buNone/>
            </a:pPr>
            <a:r>
              <a:rPr lang="en-US" sz="13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threshold is reached.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5413248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CEFD2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54132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NOT RECONCILED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5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This figure has not been reconciled against this plan's ~$8–$10M capitalization estimate from prior analysis — flagged here, not resolved.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 MOMENTUM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phases complete. One final step underway.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91640" y="2857500"/>
            <a:ext cx="8805672" cy="0"/>
          </a:xfrm>
          <a:prstGeom prst="line">
            <a:avLst/>
          </a:prstGeom>
          <a:noFill/>
          <a:ln w="25400">
            <a:solidFill>
              <a:srgbClr val="E2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68880"/>
            <a:ext cx="777240" cy="777240"/>
          </a:xfrm>
          <a:prstGeom prst="ellipse">
            <a:avLst/>
          </a:prstGeom>
          <a:solidFill>
            <a:srgbClr val="1F3B36"/>
          </a:solidFill>
          <a:ln w="25400">
            <a:solidFill>
              <a:srgbClr val="1F3B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34107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Pre-Application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10128" y="2468880"/>
            <a:ext cx="777240" cy="777240"/>
          </a:xfrm>
          <a:prstGeom prst="ellipse">
            <a:avLst/>
          </a:prstGeom>
          <a:solidFill>
            <a:srgbClr val="1F3B36"/>
          </a:solidFill>
          <a:ln w="25400">
            <a:solidFill>
              <a:srgbClr val="1F3B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24328" y="34107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CMS Submission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24328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05856" y="2468880"/>
            <a:ext cx="777240" cy="777240"/>
          </a:xfrm>
          <a:prstGeom prst="ellipse">
            <a:avLst/>
          </a:prstGeom>
          <a:solidFill>
            <a:srgbClr val="1F3B36"/>
          </a:solidFill>
          <a:ln w="25400">
            <a:solidFill>
              <a:srgbClr val="1F3B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05856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0056" y="34107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CMS Review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0056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101584" y="2468880"/>
            <a:ext cx="777240" cy="777240"/>
          </a:xfrm>
          <a:prstGeom prst="ellipse">
            <a:avLst/>
          </a:prstGeom>
          <a:solidFill>
            <a:srgbClr val="1F3B36"/>
          </a:solidFill>
          <a:ln w="25400">
            <a:solidFill>
              <a:srgbClr val="1F3B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15784" y="34107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CDOI Licensure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15784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497312" y="2468880"/>
            <a:ext cx="777240" cy="777240"/>
          </a:xfrm>
          <a:prstGeom prst="ellipse">
            <a:avLst/>
          </a:prstGeom>
          <a:solidFill>
            <a:srgbClr val="C99A3E"/>
          </a:solidFill>
          <a:ln w="25400">
            <a:solidFill>
              <a:srgbClr val="C99A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97312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11512" y="34107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1A24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Operational Launch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11512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MILE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7548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partnership execution is the last open item before first enrollment — CMS-required first-tier and downstream entity (FDR) agreements with Morgan County providers and service vendors.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STORY BEHIND THE BLOCKER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paused at the threshold because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 step is the most important one.”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vendor agreement signed is a Morgan County business brought into the co-op mission.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differentiator, not the delay.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SCAFFOLDING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figures only.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CEFD2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SPECULATIVE SCAFFOLDING — REQUIRES ACTUARIAL VALIDATION BEFORE ANY CAPITAL COMMITMENT  *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 members  *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088136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706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benchmark (PMPM)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2770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$1,000  —  low confidence  *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088136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009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revenue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33009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$8.4M  *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1088136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313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 split (claims / admin / reserve)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3831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86% / 10% / 4%  *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88536"/>
            <a:ext cx="1088136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616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1 cost (universal)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4361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~$52,500 / month  *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18888"/>
            <a:ext cx="1088136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892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2 cost (chronically-ill tier, midpoint)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4892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~$32,000 / month  *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088136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4223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Star Rating rebate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5422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  —  placeholder  *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879592"/>
            <a:ext cx="10881360" cy="0"/>
          </a:xfrm>
          <a:prstGeom prst="line">
            <a:avLst/>
          </a:prstGeom>
          <a:noFill/>
          <a:ln w="12700">
            <a:solidFill>
              <a:srgbClr val="E2E0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[Capital amount TBD]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execute the vendor network, fund the reserve path, and open enrollment at Month 19.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648456"/>
            <a:ext cx="109728" cy="109728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FDR vendor agreements across the Morgan County vendor pool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4215384"/>
            <a:ext cx="109728" cy="109728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0873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path toward the reserve threshold *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4782312"/>
            <a:ext cx="109728" cy="109728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65429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D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first enrollment period at Month 19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9B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Reserve threshold figure not yet reconciled with this plan's ~$8–$10M capitalization estimate — flagged, not resolved.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5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DEMONSTRATION — LEDGER PM AGENT PORTFOLIO PIECE. NOT A REAL CAPITAL SOLICITATION.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2026-08-05T11:23:31Z</dcterms:created>
  <dcterms:modified xsi:type="dcterms:W3CDTF">2026-08-05T11:23:31Z</dcterms:modified>
</cp:coreProperties>
</file>